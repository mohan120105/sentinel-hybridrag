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3399" y="185960"/>
            <a:ext cx="2777291" cy="12156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80" y="257083"/>
            <a:ext cx="2581421" cy="9388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160" y="139191"/>
            <a:ext cx="88106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472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8248" y="2686148"/>
            <a:ext cx="9978390" cy="3969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2449" y="74200"/>
            <a:ext cx="2055516" cy="89972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284" y="1300400"/>
            <a:ext cx="73139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685" marR="5080" indent="-254762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Finaxial</a:t>
            </a:r>
            <a:r>
              <a:rPr sz="4000" spc="-240" dirty="0"/>
              <a:t> </a:t>
            </a:r>
            <a:r>
              <a:rPr sz="4000" spc="-20" dirty="0"/>
              <a:t>AI:</a:t>
            </a:r>
            <a:r>
              <a:rPr sz="4000" spc="-229" dirty="0"/>
              <a:t> </a:t>
            </a:r>
            <a:r>
              <a:rPr sz="4000" dirty="0"/>
              <a:t>Automated</a:t>
            </a:r>
            <a:r>
              <a:rPr sz="4000" spc="-165" dirty="0"/>
              <a:t> </a:t>
            </a:r>
            <a:r>
              <a:rPr sz="4000" spc="-10" dirty="0"/>
              <a:t>Financial Reporting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852365" y="3702015"/>
            <a:ext cx="10830560" cy="2573020"/>
            <a:chOff x="852365" y="3702015"/>
            <a:chExt cx="10830560" cy="2573020"/>
          </a:xfrm>
        </p:grpSpPr>
        <p:sp>
          <p:nvSpPr>
            <p:cNvPr id="5" name="object 5"/>
            <p:cNvSpPr/>
            <p:nvPr/>
          </p:nvSpPr>
          <p:spPr>
            <a:xfrm>
              <a:off x="858715" y="3708365"/>
              <a:ext cx="10817860" cy="2560320"/>
            </a:xfrm>
            <a:custGeom>
              <a:avLst/>
              <a:gdLst/>
              <a:ahLst/>
              <a:cxnLst/>
              <a:rect l="l" t="t" r="r" b="b"/>
              <a:pathLst>
                <a:path w="10817860" h="2560320">
                  <a:moveTo>
                    <a:pt x="10390748" y="2560272"/>
                  </a:moveTo>
                  <a:lnTo>
                    <a:pt x="426720" y="2560272"/>
                  </a:lnTo>
                  <a:lnTo>
                    <a:pt x="380224" y="2557769"/>
                  </a:lnTo>
                  <a:lnTo>
                    <a:pt x="335179" y="2550430"/>
                  </a:lnTo>
                  <a:lnTo>
                    <a:pt x="291843" y="2538518"/>
                  </a:lnTo>
                  <a:lnTo>
                    <a:pt x="250479" y="2522292"/>
                  </a:lnTo>
                  <a:lnTo>
                    <a:pt x="211346" y="2502013"/>
                  </a:lnTo>
                  <a:lnTo>
                    <a:pt x="174705" y="2477940"/>
                  </a:lnTo>
                  <a:lnTo>
                    <a:pt x="140815" y="2450335"/>
                  </a:lnTo>
                  <a:lnTo>
                    <a:pt x="109937" y="2419457"/>
                  </a:lnTo>
                  <a:lnTo>
                    <a:pt x="82332" y="2385568"/>
                  </a:lnTo>
                  <a:lnTo>
                    <a:pt x="58259" y="2348926"/>
                  </a:lnTo>
                  <a:lnTo>
                    <a:pt x="37980" y="2309793"/>
                  </a:lnTo>
                  <a:lnTo>
                    <a:pt x="21754" y="2268429"/>
                  </a:lnTo>
                  <a:lnTo>
                    <a:pt x="9842" y="2225093"/>
                  </a:lnTo>
                  <a:lnTo>
                    <a:pt x="2503" y="2180048"/>
                  </a:lnTo>
                  <a:lnTo>
                    <a:pt x="0" y="2133552"/>
                  </a:lnTo>
                  <a:lnTo>
                    <a:pt x="0" y="426720"/>
                  </a:lnTo>
                  <a:lnTo>
                    <a:pt x="2503" y="380224"/>
                  </a:lnTo>
                  <a:lnTo>
                    <a:pt x="9842" y="335179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5"/>
                  </a:lnTo>
                  <a:lnTo>
                    <a:pt x="109937" y="140815"/>
                  </a:lnTo>
                  <a:lnTo>
                    <a:pt x="140815" y="109937"/>
                  </a:lnTo>
                  <a:lnTo>
                    <a:pt x="174705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9" y="9842"/>
                  </a:lnTo>
                  <a:lnTo>
                    <a:pt x="380224" y="2503"/>
                  </a:lnTo>
                  <a:lnTo>
                    <a:pt x="426720" y="0"/>
                  </a:lnTo>
                  <a:lnTo>
                    <a:pt x="10390748" y="0"/>
                  </a:lnTo>
                  <a:lnTo>
                    <a:pt x="10438897" y="2723"/>
                  </a:lnTo>
                  <a:lnTo>
                    <a:pt x="10486062" y="10779"/>
                  </a:lnTo>
                  <a:lnTo>
                    <a:pt x="10531823" y="23994"/>
                  </a:lnTo>
                  <a:lnTo>
                    <a:pt x="10575764" y="42195"/>
                  </a:lnTo>
                  <a:lnTo>
                    <a:pt x="10617466" y="65208"/>
                  </a:lnTo>
                  <a:lnTo>
                    <a:pt x="10656512" y="92862"/>
                  </a:lnTo>
                  <a:lnTo>
                    <a:pt x="10692485" y="124983"/>
                  </a:lnTo>
                  <a:lnTo>
                    <a:pt x="10724606" y="160956"/>
                  </a:lnTo>
                  <a:lnTo>
                    <a:pt x="10752260" y="200002"/>
                  </a:lnTo>
                  <a:lnTo>
                    <a:pt x="10775274" y="241705"/>
                  </a:lnTo>
                  <a:lnTo>
                    <a:pt x="10793474" y="285645"/>
                  </a:lnTo>
                  <a:lnTo>
                    <a:pt x="10806689" y="331407"/>
                  </a:lnTo>
                  <a:lnTo>
                    <a:pt x="10814745" y="378571"/>
                  </a:lnTo>
                  <a:lnTo>
                    <a:pt x="10817469" y="426720"/>
                  </a:lnTo>
                  <a:lnTo>
                    <a:pt x="10817469" y="2133552"/>
                  </a:lnTo>
                  <a:lnTo>
                    <a:pt x="10814965" y="2180048"/>
                  </a:lnTo>
                  <a:lnTo>
                    <a:pt x="10807627" y="2225093"/>
                  </a:lnTo>
                  <a:lnTo>
                    <a:pt x="10795714" y="2268429"/>
                  </a:lnTo>
                  <a:lnTo>
                    <a:pt x="10779488" y="2309793"/>
                  </a:lnTo>
                  <a:lnTo>
                    <a:pt x="10759209" y="2348926"/>
                  </a:lnTo>
                  <a:lnTo>
                    <a:pt x="10735136" y="2385568"/>
                  </a:lnTo>
                  <a:lnTo>
                    <a:pt x="10707531" y="2419457"/>
                  </a:lnTo>
                  <a:lnTo>
                    <a:pt x="10676653" y="2450335"/>
                  </a:lnTo>
                  <a:lnTo>
                    <a:pt x="10642764" y="2477940"/>
                  </a:lnTo>
                  <a:lnTo>
                    <a:pt x="10606122" y="2502013"/>
                  </a:lnTo>
                  <a:lnTo>
                    <a:pt x="10566989" y="2522292"/>
                  </a:lnTo>
                  <a:lnTo>
                    <a:pt x="10525624" y="2538518"/>
                  </a:lnTo>
                  <a:lnTo>
                    <a:pt x="10482289" y="2550430"/>
                  </a:lnTo>
                  <a:lnTo>
                    <a:pt x="10437244" y="2557769"/>
                  </a:lnTo>
                  <a:lnTo>
                    <a:pt x="10390748" y="256027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8715" y="3708365"/>
              <a:ext cx="10817860" cy="2560320"/>
            </a:xfrm>
            <a:custGeom>
              <a:avLst/>
              <a:gdLst/>
              <a:ahLst/>
              <a:cxnLst/>
              <a:rect l="l" t="t" r="r" b="b"/>
              <a:pathLst>
                <a:path w="10817860" h="2560320">
                  <a:moveTo>
                    <a:pt x="0" y="426720"/>
                  </a:moveTo>
                  <a:lnTo>
                    <a:pt x="2503" y="380224"/>
                  </a:lnTo>
                  <a:lnTo>
                    <a:pt x="9842" y="335179"/>
                  </a:lnTo>
                  <a:lnTo>
                    <a:pt x="21754" y="291843"/>
                  </a:lnTo>
                  <a:lnTo>
                    <a:pt x="37980" y="250479"/>
                  </a:lnTo>
                  <a:lnTo>
                    <a:pt x="58259" y="211346"/>
                  </a:lnTo>
                  <a:lnTo>
                    <a:pt x="82332" y="174705"/>
                  </a:lnTo>
                  <a:lnTo>
                    <a:pt x="109937" y="140815"/>
                  </a:lnTo>
                  <a:lnTo>
                    <a:pt x="140815" y="109937"/>
                  </a:lnTo>
                  <a:lnTo>
                    <a:pt x="174705" y="82332"/>
                  </a:lnTo>
                  <a:lnTo>
                    <a:pt x="211346" y="58259"/>
                  </a:lnTo>
                  <a:lnTo>
                    <a:pt x="250479" y="37980"/>
                  </a:lnTo>
                  <a:lnTo>
                    <a:pt x="291843" y="21754"/>
                  </a:lnTo>
                  <a:lnTo>
                    <a:pt x="335179" y="9842"/>
                  </a:lnTo>
                  <a:lnTo>
                    <a:pt x="380224" y="2503"/>
                  </a:lnTo>
                  <a:lnTo>
                    <a:pt x="426720" y="0"/>
                  </a:lnTo>
                  <a:lnTo>
                    <a:pt x="10390748" y="0"/>
                  </a:lnTo>
                  <a:lnTo>
                    <a:pt x="10438897" y="2723"/>
                  </a:lnTo>
                  <a:lnTo>
                    <a:pt x="10486062" y="10779"/>
                  </a:lnTo>
                  <a:lnTo>
                    <a:pt x="10531823" y="23994"/>
                  </a:lnTo>
                  <a:lnTo>
                    <a:pt x="10575764" y="42195"/>
                  </a:lnTo>
                  <a:lnTo>
                    <a:pt x="10617466" y="65208"/>
                  </a:lnTo>
                  <a:lnTo>
                    <a:pt x="10656512" y="92862"/>
                  </a:lnTo>
                  <a:lnTo>
                    <a:pt x="10692485" y="124983"/>
                  </a:lnTo>
                  <a:lnTo>
                    <a:pt x="10724606" y="160956"/>
                  </a:lnTo>
                  <a:lnTo>
                    <a:pt x="10752260" y="200002"/>
                  </a:lnTo>
                  <a:lnTo>
                    <a:pt x="10775274" y="241705"/>
                  </a:lnTo>
                  <a:lnTo>
                    <a:pt x="10793474" y="285645"/>
                  </a:lnTo>
                  <a:lnTo>
                    <a:pt x="10806689" y="331407"/>
                  </a:lnTo>
                  <a:lnTo>
                    <a:pt x="10814745" y="378571"/>
                  </a:lnTo>
                  <a:lnTo>
                    <a:pt x="10817469" y="426720"/>
                  </a:lnTo>
                  <a:lnTo>
                    <a:pt x="10817469" y="2133552"/>
                  </a:lnTo>
                  <a:lnTo>
                    <a:pt x="10814965" y="2180048"/>
                  </a:lnTo>
                  <a:lnTo>
                    <a:pt x="10807627" y="2225093"/>
                  </a:lnTo>
                  <a:lnTo>
                    <a:pt x="10795714" y="2268429"/>
                  </a:lnTo>
                  <a:lnTo>
                    <a:pt x="10779488" y="2309793"/>
                  </a:lnTo>
                  <a:lnTo>
                    <a:pt x="10759209" y="2348926"/>
                  </a:lnTo>
                  <a:lnTo>
                    <a:pt x="10735136" y="2385568"/>
                  </a:lnTo>
                  <a:lnTo>
                    <a:pt x="10707531" y="2419457"/>
                  </a:lnTo>
                  <a:lnTo>
                    <a:pt x="10676653" y="2450335"/>
                  </a:lnTo>
                  <a:lnTo>
                    <a:pt x="10642764" y="2477940"/>
                  </a:lnTo>
                  <a:lnTo>
                    <a:pt x="10606122" y="2502013"/>
                  </a:lnTo>
                  <a:lnTo>
                    <a:pt x="10566989" y="2522292"/>
                  </a:lnTo>
                  <a:lnTo>
                    <a:pt x="10525624" y="2538518"/>
                  </a:lnTo>
                  <a:lnTo>
                    <a:pt x="10482289" y="2550430"/>
                  </a:lnTo>
                  <a:lnTo>
                    <a:pt x="10437244" y="2557769"/>
                  </a:lnTo>
                  <a:lnTo>
                    <a:pt x="10390748" y="2560272"/>
                  </a:lnTo>
                  <a:lnTo>
                    <a:pt x="426720" y="2560272"/>
                  </a:lnTo>
                  <a:lnTo>
                    <a:pt x="380224" y="2557769"/>
                  </a:lnTo>
                  <a:lnTo>
                    <a:pt x="335179" y="2550430"/>
                  </a:lnTo>
                  <a:lnTo>
                    <a:pt x="291843" y="2538518"/>
                  </a:lnTo>
                  <a:lnTo>
                    <a:pt x="250479" y="2522292"/>
                  </a:lnTo>
                  <a:lnTo>
                    <a:pt x="211346" y="2502013"/>
                  </a:lnTo>
                  <a:lnTo>
                    <a:pt x="174705" y="2477940"/>
                  </a:lnTo>
                  <a:lnTo>
                    <a:pt x="140815" y="2450335"/>
                  </a:lnTo>
                  <a:lnTo>
                    <a:pt x="109937" y="2419457"/>
                  </a:lnTo>
                  <a:lnTo>
                    <a:pt x="82332" y="2385568"/>
                  </a:lnTo>
                  <a:lnTo>
                    <a:pt x="58259" y="2348926"/>
                  </a:lnTo>
                  <a:lnTo>
                    <a:pt x="37980" y="2309793"/>
                  </a:lnTo>
                  <a:lnTo>
                    <a:pt x="21754" y="2268429"/>
                  </a:lnTo>
                  <a:lnTo>
                    <a:pt x="9842" y="2225093"/>
                  </a:lnTo>
                  <a:lnTo>
                    <a:pt x="2503" y="2180048"/>
                  </a:lnTo>
                  <a:lnTo>
                    <a:pt x="0" y="2133552"/>
                  </a:lnTo>
                  <a:lnTo>
                    <a:pt x="0" y="426720"/>
                  </a:lnTo>
                  <a:close/>
                </a:path>
              </a:pathLst>
            </a:custGeom>
            <a:ln w="12699">
              <a:solidFill>
                <a:srgbClr val="D4DB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858715" y="2545000"/>
            <a:ext cx="10876085" cy="4334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5740" marR="3282315" indent="267335" algn="ctr">
              <a:lnSpc>
                <a:spcPct val="133400"/>
              </a:lnSpc>
              <a:spcBef>
                <a:spcPts val="100"/>
              </a:spcBef>
            </a:pPr>
            <a:r>
              <a:rPr spc="-10" dirty="0"/>
              <a:t>Faculty</a:t>
            </a:r>
            <a:r>
              <a:rPr spc="-70" dirty="0"/>
              <a:t> </a:t>
            </a:r>
            <a:r>
              <a:rPr dirty="0"/>
              <a:t>Mentor</a:t>
            </a:r>
            <a:r>
              <a:rPr spc="-7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lang="en-US" spc="-10" dirty="0"/>
              <a:t>Dr. </a:t>
            </a:r>
            <a:r>
              <a:rPr lang="en-US" spc="-10" dirty="0" err="1"/>
              <a:t>Ch.Sekhar</a:t>
            </a:r>
            <a:r>
              <a:rPr spc="-10" dirty="0"/>
              <a:t> </a:t>
            </a:r>
            <a:r>
              <a:rPr lang="en-US" spc="-10" dirty="0"/>
              <a:t>                  	</a:t>
            </a:r>
            <a:r>
              <a:rPr spc="-25" dirty="0"/>
              <a:t>Te</a:t>
            </a:r>
            <a:r>
              <a:rPr lang="en-US" spc="-25" dirty="0"/>
              <a:t>am Turing Machines      			</a:t>
            </a:r>
            <a:endParaRPr spc="-10" dirty="0"/>
          </a:p>
          <a:p>
            <a:pPr marL="12700" marR="5080">
              <a:lnSpc>
                <a:spcPct val="208400"/>
              </a:lnSpc>
              <a:spcBef>
                <a:spcPts val="505"/>
              </a:spcBef>
              <a:tabLst>
                <a:tab pos="3046095" algn="l"/>
                <a:tab pos="3067050" algn="l"/>
              </a:tabLst>
            </a:pPr>
            <a:r>
              <a:rPr lang="en-US" sz="1800" dirty="0">
                <a:solidFill>
                  <a:srgbClr val="757070"/>
                </a:solidFill>
              </a:rPr>
              <a:t>Shaik </a:t>
            </a:r>
            <a:r>
              <a:rPr lang="en-US" sz="1800" dirty="0" err="1">
                <a:solidFill>
                  <a:srgbClr val="757070"/>
                </a:solidFill>
              </a:rPr>
              <a:t>Najeer</a:t>
            </a:r>
            <a:r>
              <a:rPr lang="en-US" sz="1800" dirty="0">
                <a:solidFill>
                  <a:srgbClr val="757070"/>
                </a:solidFill>
              </a:rPr>
              <a:t> </a:t>
            </a:r>
            <a:r>
              <a:rPr sz="1800" spc="-10" dirty="0">
                <a:solidFill>
                  <a:srgbClr val="757070"/>
                </a:solidFill>
              </a:rPr>
              <a:t>(Leader)</a:t>
            </a:r>
            <a:r>
              <a:rPr sz="1800" dirty="0">
                <a:solidFill>
                  <a:srgbClr val="757070"/>
                </a:solidFill>
              </a:rPr>
              <a:t>	–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lang="en-US" sz="1800" dirty="0">
                <a:solidFill>
                  <a:srgbClr val="757070"/>
                </a:solidFill>
              </a:rPr>
              <a:t>22341A4253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-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Frontend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login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and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backend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spc="-10" dirty="0">
                <a:solidFill>
                  <a:srgbClr val="757070"/>
                </a:solidFill>
              </a:rPr>
              <a:t>Integration </a:t>
            </a:r>
            <a:r>
              <a:rPr lang="en-US" sz="1800" spc="-10" dirty="0">
                <a:solidFill>
                  <a:srgbClr val="757070"/>
                </a:solidFill>
              </a:rPr>
              <a:t>  Mohan</a:t>
            </a:r>
            <a:r>
              <a:rPr sz="1800" dirty="0">
                <a:solidFill>
                  <a:srgbClr val="757070"/>
                </a:solidFill>
              </a:rPr>
              <a:t>		–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2</a:t>
            </a:r>
            <a:r>
              <a:rPr lang="en-US" sz="1800" dirty="0">
                <a:solidFill>
                  <a:srgbClr val="757070"/>
                </a:solidFill>
              </a:rPr>
              <a:t>2341</a:t>
            </a:r>
            <a:r>
              <a:rPr sz="1800" dirty="0">
                <a:solidFill>
                  <a:srgbClr val="757070"/>
                </a:solidFill>
              </a:rPr>
              <a:t>A</a:t>
            </a:r>
            <a:r>
              <a:rPr lang="en-US" sz="1800" dirty="0">
                <a:solidFill>
                  <a:srgbClr val="757070"/>
                </a:solidFill>
              </a:rPr>
              <a:t>4205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-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Backend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Infrastructure</a:t>
            </a:r>
            <a:r>
              <a:rPr sz="1800" spc="-4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and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sz="1800" spc="-10" dirty="0">
                <a:solidFill>
                  <a:srgbClr val="757070"/>
                </a:solidFill>
              </a:rPr>
              <a:t>Devops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2345"/>
              </a:spcBef>
              <a:tabLst>
                <a:tab pos="3096895" algn="l"/>
              </a:tabLst>
            </a:pPr>
            <a:r>
              <a:rPr lang="en-US" sz="1800" dirty="0">
                <a:solidFill>
                  <a:srgbClr val="757070"/>
                </a:solidFill>
              </a:rPr>
              <a:t>Praveen</a:t>
            </a:r>
            <a:r>
              <a:rPr sz="1800" dirty="0">
                <a:solidFill>
                  <a:srgbClr val="757070"/>
                </a:solidFill>
              </a:rPr>
              <a:t>	–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lang="en-US" sz="1800" dirty="0">
                <a:solidFill>
                  <a:srgbClr val="757070"/>
                </a:solidFill>
              </a:rPr>
              <a:t>22341A4263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-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Frontend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spc="-20" dirty="0">
                <a:solidFill>
                  <a:srgbClr val="757070"/>
                </a:solidFill>
              </a:rPr>
              <a:t>UI/UX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3103880" algn="l"/>
              </a:tabLst>
            </a:pPr>
            <a:r>
              <a:rPr lang="en-US" sz="1800" dirty="0">
                <a:solidFill>
                  <a:srgbClr val="757070"/>
                </a:solidFill>
              </a:rPr>
              <a:t>Pradeep</a:t>
            </a:r>
            <a:r>
              <a:rPr sz="1800" dirty="0">
                <a:solidFill>
                  <a:srgbClr val="757070"/>
                </a:solidFill>
              </a:rPr>
              <a:t>	–</a:t>
            </a:r>
            <a:r>
              <a:rPr sz="1800" spc="-40" dirty="0">
                <a:solidFill>
                  <a:srgbClr val="757070"/>
                </a:solidFill>
              </a:rPr>
              <a:t> </a:t>
            </a:r>
            <a:r>
              <a:rPr lang="en-US" sz="1800" dirty="0">
                <a:solidFill>
                  <a:srgbClr val="757070"/>
                </a:solidFill>
              </a:rPr>
              <a:t>22341A4214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–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Backend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API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and</a:t>
            </a:r>
            <a:r>
              <a:rPr sz="1800" spc="-35" dirty="0">
                <a:solidFill>
                  <a:srgbClr val="757070"/>
                </a:solidFill>
              </a:rPr>
              <a:t> </a:t>
            </a:r>
            <a:r>
              <a:rPr sz="1800" spc="-10" dirty="0">
                <a:solidFill>
                  <a:srgbClr val="757070"/>
                </a:solidFill>
              </a:rPr>
              <a:t>Database</a:t>
            </a:r>
            <a:endParaRPr sz="1800" dirty="0"/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1800" dirty="0"/>
          </a:p>
          <a:p>
            <a:pPr marR="491490" algn="ctr">
              <a:lnSpc>
                <a:spcPct val="100000"/>
              </a:lnSpc>
              <a:spcBef>
                <a:spcPts val="5"/>
              </a:spcBef>
            </a:pPr>
            <a:r>
              <a:rPr lang="en-US" sz="1800" spc="-80" dirty="0">
                <a:solidFill>
                  <a:srgbClr val="757070"/>
                </a:solidFill>
              </a:rPr>
              <a:t>GMR</a:t>
            </a:r>
            <a:r>
              <a:rPr sz="1800" spc="-8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Institute</a:t>
            </a:r>
            <a:r>
              <a:rPr sz="1800" spc="-60" dirty="0">
                <a:solidFill>
                  <a:srgbClr val="757070"/>
                </a:solidFill>
              </a:rPr>
              <a:t> </a:t>
            </a:r>
            <a:r>
              <a:rPr sz="1800" dirty="0">
                <a:solidFill>
                  <a:srgbClr val="757070"/>
                </a:solidFill>
              </a:rPr>
              <a:t>of</a:t>
            </a:r>
            <a:r>
              <a:rPr sz="1800" spc="35" dirty="0">
                <a:solidFill>
                  <a:srgbClr val="757070"/>
                </a:solidFill>
              </a:rPr>
              <a:t> </a:t>
            </a:r>
            <a:r>
              <a:rPr sz="1800" spc="-25" dirty="0">
                <a:solidFill>
                  <a:srgbClr val="757070"/>
                </a:solidFill>
              </a:rPr>
              <a:t>Technology</a:t>
            </a:r>
            <a:r>
              <a:rPr lang="en-US" sz="1800" spc="-25" dirty="0">
                <a:solidFill>
                  <a:srgbClr val="757070"/>
                </a:solidFill>
              </a:rPr>
              <a:t>(Deemed University)</a:t>
            </a:r>
            <a:r>
              <a:rPr sz="1800" spc="-25" dirty="0">
                <a:solidFill>
                  <a:srgbClr val="757070"/>
                </a:solidFill>
              </a:rPr>
              <a:t>,</a:t>
            </a:r>
            <a:r>
              <a:rPr sz="1800" spc="-55" dirty="0">
                <a:solidFill>
                  <a:srgbClr val="757070"/>
                </a:solidFill>
              </a:rPr>
              <a:t> </a:t>
            </a:r>
            <a:r>
              <a:rPr lang="en-US" sz="1800" spc="-10" dirty="0">
                <a:solidFill>
                  <a:srgbClr val="757070"/>
                </a:solidFill>
              </a:rPr>
              <a:t>Rajam</a:t>
            </a:r>
            <a:endParaRPr sz="180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38" y="218842"/>
            <a:ext cx="1532792" cy="606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30" y="305561"/>
            <a:ext cx="3939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10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" y="1019302"/>
            <a:ext cx="11466195" cy="538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marR="1580515" indent="-255270">
              <a:lnSpc>
                <a:spcPct val="100000"/>
              </a:lnSpc>
              <a:spcBef>
                <a:spcPts val="100"/>
              </a:spcBef>
              <a:buChar char="•"/>
              <a:tabLst>
                <a:tab pos="37274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Preparing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including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income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statements,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balance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sheets,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cash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flow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statements,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time-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consuming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prone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errors,especially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large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datasets.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Impact:</a:t>
            </a:r>
            <a:endParaRPr sz="1600">
              <a:latin typeface="Arial"/>
              <a:cs typeface="Arial"/>
            </a:endParaRPr>
          </a:p>
          <a:p>
            <a:pPr marL="829310" lvl="1" indent="-255270">
              <a:lnSpc>
                <a:spcPct val="100000"/>
              </a:lnSpc>
              <a:buChar char="•"/>
              <a:tabLst>
                <a:tab pos="82931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savings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teams.</a:t>
            </a:r>
            <a:endParaRPr sz="1600">
              <a:latin typeface="Arial"/>
              <a:cs typeface="Arial"/>
            </a:endParaRPr>
          </a:p>
          <a:p>
            <a:pPr marL="829310" lvl="1" indent="-255270">
              <a:lnSpc>
                <a:spcPct val="100000"/>
              </a:lnSpc>
              <a:buChar char="•"/>
              <a:tabLst>
                <a:tab pos="82931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Real</a:t>
            </a:r>
            <a:r>
              <a:rPr sz="16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insights</a:t>
            </a:r>
            <a:r>
              <a:rPr sz="16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stakeholders.</a:t>
            </a:r>
            <a:endParaRPr sz="1600">
              <a:latin typeface="Arial"/>
              <a:cs typeface="Arial"/>
            </a:endParaRPr>
          </a:p>
          <a:p>
            <a:pPr marL="829310" lvl="1" indent="-255270">
              <a:lnSpc>
                <a:spcPct val="100000"/>
              </a:lnSpc>
              <a:buChar char="•"/>
              <a:tabLst>
                <a:tab pos="82931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Reduced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operational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costs.</a:t>
            </a:r>
            <a:endParaRPr sz="1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9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b="1" spc="-10" dirty="0">
                <a:solidFill>
                  <a:srgbClr val="4472C4"/>
                </a:solidFill>
                <a:latin typeface="Times New Roman"/>
                <a:cs typeface="Times New Roman"/>
              </a:rPr>
              <a:t>Objective:</a:t>
            </a:r>
            <a:endParaRPr sz="3600">
              <a:latin typeface="Times New Roman"/>
              <a:cs typeface="Times New Roman"/>
            </a:endParaRPr>
          </a:p>
          <a:p>
            <a:pPr marL="86995">
              <a:lnSpc>
                <a:spcPct val="100000"/>
              </a:lnSpc>
              <a:spcBef>
                <a:spcPts val="1210"/>
              </a:spcBef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Operational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Efficiency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Cost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Reduction:</a:t>
            </a:r>
            <a:endParaRPr sz="1600">
              <a:latin typeface="Arial"/>
              <a:cs typeface="Arial"/>
            </a:endParaRPr>
          </a:p>
          <a:p>
            <a:pPr marL="372745" marR="416559" indent="-255270">
              <a:lnSpc>
                <a:spcPct val="100000"/>
              </a:lnSpc>
              <a:buChar char="•"/>
              <a:tabLst>
                <a:tab pos="37274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reporting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reduces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effort,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minimizes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errors,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streamlines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processing.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leads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significant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cost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savings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decreasing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reliance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large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teams.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Strategic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Decision-Making</a:t>
            </a:r>
            <a:endParaRPr sz="1600">
              <a:latin typeface="Arial"/>
              <a:cs typeface="Arial"/>
            </a:endParaRPr>
          </a:p>
          <a:p>
            <a:pPr marL="372745" marR="41910" indent="-255270">
              <a:lnSpc>
                <a:spcPct val="100000"/>
              </a:lnSpc>
              <a:buChar char="•"/>
              <a:tabLst>
                <a:tab pos="37274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Instant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insights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revenue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trends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profitability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enables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quicker,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data-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driven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decisions.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responsiveness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enhances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organization's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agility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market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conditions.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Improved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Accuracy</a:t>
            </a:r>
            <a:endParaRPr sz="1600">
              <a:latin typeface="Arial"/>
              <a:cs typeface="Arial"/>
            </a:endParaRPr>
          </a:p>
          <a:p>
            <a:pPr marL="372745" marR="5080" indent="-255270">
              <a:lnSpc>
                <a:spcPct val="100000"/>
              </a:lnSpc>
              <a:buChar char="•"/>
              <a:tabLst>
                <a:tab pos="37274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Generative</a:t>
            </a:r>
            <a:r>
              <a:rPr sz="1600" b="1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consistency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accuracy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reports,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supporting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regulations.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lowers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penalties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boosts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confidence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among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investors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auditors.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Target</a:t>
            </a:r>
            <a:r>
              <a:rPr spc="-120" dirty="0"/>
              <a:t> </a:t>
            </a:r>
            <a:r>
              <a:rPr dirty="0"/>
              <a:t>Segment</a:t>
            </a:r>
            <a:r>
              <a:rPr spc="-110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Market</a:t>
            </a:r>
            <a:r>
              <a:rPr spc="-105" dirty="0"/>
              <a:t> </a:t>
            </a:r>
            <a:r>
              <a:rPr spc="-10" dirty="0"/>
              <a:t>Size: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258" y="901303"/>
            <a:ext cx="6128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Intended</a:t>
            </a:r>
            <a:r>
              <a:rPr sz="240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Customers</a:t>
            </a:r>
            <a:r>
              <a:rPr sz="24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240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595959"/>
                </a:solidFill>
                <a:latin typeface="Arial"/>
                <a:cs typeface="Arial"/>
              </a:rPr>
              <a:t>Targeted</a:t>
            </a:r>
            <a:r>
              <a:rPr sz="24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Segments: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41" y="1459667"/>
            <a:ext cx="6194855" cy="49850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7075" y="823905"/>
            <a:ext cx="1702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Market</a:t>
            </a:r>
            <a:r>
              <a:rPr sz="24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595959"/>
                </a:solidFill>
                <a:latin typeface="Arial"/>
                <a:cs typeface="Arial"/>
              </a:rPr>
              <a:t>Size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5568" y="1373450"/>
            <a:ext cx="2955688" cy="19970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17673" y="3466210"/>
            <a:ext cx="53797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Global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Generative</a:t>
            </a:r>
            <a:r>
              <a:rPr sz="18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predicted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surpass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around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15.69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USD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Billion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by 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2034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4770" y="4538618"/>
            <a:ext cx="3088203" cy="16627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44170" y="6227915"/>
            <a:ext cx="5396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4020" marR="5080" indent="-1671955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Compound</a:t>
            </a:r>
            <a:r>
              <a:rPr sz="1800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Annual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Growth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Rate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increase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drastically</a:t>
            </a:r>
            <a:r>
              <a:rPr sz="18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2034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50" dirty="0"/>
              <a:t> </a:t>
            </a:r>
            <a:r>
              <a:rPr dirty="0"/>
              <a:t>Solutions</a:t>
            </a:r>
            <a:r>
              <a:rPr spc="-40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dirty="0"/>
              <a:t>Platforms</a:t>
            </a:r>
            <a:r>
              <a:rPr spc="-3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spc="-10" dirty="0"/>
              <a:t>Finaxial</a:t>
            </a:r>
            <a:r>
              <a:rPr spc="-215" dirty="0"/>
              <a:t> </a:t>
            </a:r>
            <a:r>
              <a:rPr spc="-25" dirty="0"/>
              <a:t>AI: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8295" y="807084"/>
          <a:ext cx="10255885" cy="4871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Finaxial</a:t>
                      </a:r>
                      <a:r>
                        <a:rPr sz="1500" b="1" spc="-9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iWaever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Parseur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Platforms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228600" marR="221615" indent="-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Interactive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ER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Duagram(Schema Visualization)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 marL="133350" marR="8255" indent="-1206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Query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Generation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Uploaded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375">
                <a:tc>
                  <a:txBody>
                    <a:bodyPr/>
                    <a:lstStyle/>
                    <a:p>
                      <a:pPr marL="271145" marR="263525" indent="-190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Versioning System (Compare/Revert Uploads)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26034" marR="19685" indent="-1270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Detailed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Audit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Trail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(Data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Actions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+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Queries)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Basic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usage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logs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only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9305" marR="179070" indent="-603885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Partial(Active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logs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only)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329565" marR="308610" indent="-14604" algn="just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ETL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Pipeline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for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Multi-Sheet</a:t>
                      </a:r>
                      <a:r>
                        <a:rPr sz="1500" b="1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Complex</a:t>
                      </a:r>
                      <a:r>
                        <a:rPr sz="1500" b="1" spc="-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065" marR="117475" indent="-65151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Yes(Data</a:t>
                      </a:r>
                      <a:r>
                        <a:rPr sz="1500" b="1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Extraction Only)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10160" marR="5080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In-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r>
                        <a:rPr sz="1500" b="1" spc="-8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Annotation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Commenting</a:t>
                      </a:r>
                      <a:r>
                        <a:rPr sz="1500" b="1" spc="5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System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60" y="7111"/>
            <a:ext cx="8810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50" dirty="0"/>
              <a:t> </a:t>
            </a:r>
            <a:r>
              <a:rPr dirty="0"/>
              <a:t>Solutions</a:t>
            </a:r>
            <a:r>
              <a:rPr spc="-40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dirty="0"/>
              <a:t>Platforms</a:t>
            </a:r>
            <a:r>
              <a:rPr spc="-3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spc="-10" dirty="0"/>
              <a:t>Finaxial</a:t>
            </a:r>
            <a:r>
              <a:rPr spc="-215" dirty="0"/>
              <a:t> </a:t>
            </a:r>
            <a:r>
              <a:rPr spc="-25" dirty="0"/>
              <a:t>AI: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4785" y="582294"/>
          <a:ext cx="10379710" cy="606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8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0" marR="215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Finaxial</a:t>
                      </a:r>
                      <a:r>
                        <a:rPr sz="1500" b="1" spc="-9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iWaever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Parseur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Platforms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381000" marR="375285" indent="1270" algn="ctr">
                        <a:lnSpc>
                          <a:spcPts val="1800"/>
                        </a:lnSpc>
                      </a:pP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Schema-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Aware Conversational Assistant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 marR="298450" indent="-289560">
                        <a:lnSpc>
                          <a:spcPts val="1800"/>
                        </a:lnSpc>
                      </a:pP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Yes-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Powered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by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Gemini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6830" marR="31750" indent="1905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500" b="1" spc="-9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Assistant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Q&amp;A</a:t>
                      </a:r>
                      <a:r>
                        <a:rPr sz="1500" b="1" spc="-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+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Awareness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116839" indent="-635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assistant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answers</a:t>
                      </a:r>
                      <a:r>
                        <a:rPr sz="1500" b="1" spc="-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financial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queries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generates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03835" marR="197485" algn="ctr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NLP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chat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follow-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ups</a:t>
                      </a:r>
                      <a:r>
                        <a:rPr sz="1500" b="1" spc="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(no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SQL/schema)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2365">
                <a:tc>
                  <a:txBody>
                    <a:bodyPr/>
                    <a:lstStyle/>
                    <a:p>
                      <a:pPr marL="111125" marR="106680" indent="63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Gemini</a:t>
                      </a:r>
                      <a:r>
                        <a:rPr sz="1500" b="1" spc="-8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Visualizations, Summaries,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Insights, Recommendations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Gemini</a:t>
                      </a:r>
                      <a:r>
                        <a:rPr sz="1500" b="1" spc="-9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500" b="1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generate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smart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reports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500" b="1" spc="-5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insights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&amp;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summaries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75895" marR="170180" indent="-635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(uses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internal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GPT-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like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summaries)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0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96875" marR="232410" indent="-15875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Export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PDF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Send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via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67945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auto-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generated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reports</a:t>
                      </a:r>
                      <a:r>
                        <a:rPr sz="1500" b="1" spc="-6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sz="1500" b="1" spc="-6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be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exported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as PDF,Word,XML</a:t>
                      </a:r>
                      <a:r>
                        <a:rPr sz="1500" b="1" spc="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shared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46100" marR="45085" indent="-44323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Export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PDF,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Word,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Markdown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37235" marR="254000" indent="-42418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parsed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text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output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89890" marR="88265" indent="-24384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Partial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PDF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export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some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tools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0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06375" marR="201295" indent="1905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Handles</a:t>
                      </a:r>
                      <a:r>
                        <a:rPr sz="1500" b="1" spc="-9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Complex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Multiple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Files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Sheets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48895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file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built-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merge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dynamic</a:t>
                      </a:r>
                      <a:r>
                        <a:rPr sz="1500" b="1" spc="-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column handling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3055" marR="194945" indent="-63500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6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accepts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20+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files</a:t>
                      </a:r>
                      <a:r>
                        <a:rPr sz="1500" b="1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1500" b="1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limited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sz="1500" b="1" spc="-9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66725" marR="38100" indent="-372745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document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parsing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only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5" dirty="0"/>
              <a:t> </a:t>
            </a:r>
            <a:r>
              <a:rPr dirty="0"/>
              <a:t>our</a:t>
            </a:r>
            <a:r>
              <a:rPr spc="-80" dirty="0"/>
              <a:t> </a:t>
            </a:r>
            <a:r>
              <a:rPr dirty="0"/>
              <a:t>solution</a:t>
            </a:r>
            <a:r>
              <a:rPr spc="-2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10" dirty="0"/>
              <a:t>accurate?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637" y="971041"/>
            <a:ext cx="11628120" cy="490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 marR="461009" indent="-255270">
              <a:lnSpc>
                <a:spcPct val="100000"/>
              </a:lnSpc>
              <a:spcBef>
                <a:spcPts val="100"/>
              </a:spcBef>
              <a:buChar char="•"/>
              <a:tabLst>
                <a:tab pos="267970" algn="l"/>
              </a:tabLst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Google</a:t>
            </a:r>
            <a:r>
              <a:rPr sz="1600" b="1" spc="-5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Gemini</a:t>
            </a:r>
            <a:r>
              <a:rPr sz="1600" b="1" spc="-10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AI</a:t>
            </a:r>
            <a:r>
              <a:rPr sz="1600" b="1" spc="-5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Integration: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Advanced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natural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contextually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accurate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financial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leveraging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domain-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knowledge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bases.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RAG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grounds</a:t>
            </a:r>
            <a:r>
              <a:rPr sz="16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responses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established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principles,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eliminating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hallucinations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providing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reliable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insights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backed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regulatory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standards.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72C4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67970" marR="5080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Multi</a:t>
            </a:r>
            <a:r>
              <a:rPr sz="1600" b="1" spc="-4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Format</a:t>
            </a:r>
            <a:r>
              <a:rPr sz="1600" b="1" spc="-4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Data</a:t>
            </a:r>
            <a:r>
              <a:rPr sz="1600" b="1" spc="-4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Ingestion:</a:t>
            </a:r>
            <a:r>
              <a:rPr sz="1600" b="1" spc="-4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CSV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Excel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parsing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intelligent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detects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inconsistencies,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missing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values,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formatting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errors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before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analysis.</a:t>
            </a:r>
            <a:r>
              <a:rPr sz="16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cleansing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normalization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standardized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input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consistent,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accurate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calculations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across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metrics.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72C4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67970" marR="603885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1600" b="1" spc="-20" dirty="0">
                <a:solidFill>
                  <a:srgbClr val="4472C4"/>
                </a:solidFill>
                <a:latin typeface="Arial"/>
                <a:cs typeface="Arial"/>
              </a:rPr>
              <a:t>Multi-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Standard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Regulatory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Checking:</a:t>
            </a:r>
            <a:r>
              <a:rPr sz="1600" b="1" spc="-1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Simultaneous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against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GAAP,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IFRS,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SOX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standards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ensures regulatory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accuracy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while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comprehensive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audit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trails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maintain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integrity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throughout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lifecycle.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72C4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67970" marR="262890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1600" b="1" spc="-20" dirty="0">
                <a:solidFill>
                  <a:srgbClr val="4472C4"/>
                </a:solidFill>
                <a:latin typeface="Arial"/>
                <a:cs typeface="Arial"/>
              </a:rPr>
              <a:t>Multi-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Layer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Verification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System:</a:t>
            </a:r>
            <a:r>
              <a:rPr sz="1600" b="1" spc="-1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Combines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statistical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verification,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regulatory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compliance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checking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achieve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95%+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precision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rate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across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calculations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insights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processes.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72C4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67970" marR="488315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Fallback</a:t>
            </a:r>
            <a:r>
              <a:rPr sz="1600" b="1" spc="-3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Mechanisms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Three-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tier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(vector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search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search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generic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knowledge)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intelligent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retry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logic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99.9%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reliability.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Comprehensive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error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prevents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invalid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compromising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accuracy.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72C4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267970" marR="693420" indent="-255270">
              <a:lnSpc>
                <a:spcPct val="100000"/>
              </a:lnSpc>
              <a:buChar char="•"/>
              <a:tabLst>
                <a:tab pos="267970" algn="l"/>
              </a:tabLst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Accuracy</a:t>
            </a:r>
            <a:r>
              <a:rPr sz="1600" b="1" spc="-4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Guarantee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comprehensive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framework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95%+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precision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6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grounding, regulatory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compliance,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statistical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verification,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domain-expert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knowledge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integration.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60" y="139191"/>
            <a:ext cx="2644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145" y="720725"/>
            <a:ext cx="8589009" cy="50368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3245" y="5931662"/>
            <a:ext cx="1006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4472C4"/>
                </a:solidFill>
                <a:latin typeface="Arial"/>
                <a:cs typeface="Arial"/>
              </a:rPr>
              <a:t>Full-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Stack</a:t>
            </a:r>
            <a:r>
              <a:rPr sz="1600" b="1" spc="-10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AI-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Driven</a:t>
            </a:r>
            <a:r>
              <a:rPr sz="1600" b="1" spc="-10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Architecture: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End-to-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platform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leveraging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Gemini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2.0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Flash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intelligent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processing,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Next.js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Chart.js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visualizations,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sz="16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API,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MongoDB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PDF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email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distribution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155" dirty="0"/>
              <a:t> </a:t>
            </a:r>
            <a:r>
              <a:rPr dirty="0"/>
              <a:t>flow</a:t>
            </a:r>
            <a:r>
              <a:rPr spc="-90" dirty="0"/>
              <a:t> </a:t>
            </a:r>
            <a:r>
              <a:rPr spc="-10" dirty="0"/>
              <a:t>Chart: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40" y="777240"/>
            <a:ext cx="11835764" cy="46818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4670" y="5652261"/>
            <a:ext cx="106025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Comprehensive</a:t>
            </a:r>
            <a:r>
              <a:rPr sz="1600" b="1" spc="-5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User</a:t>
            </a:r>
            <a:r>
              <a:rPr sz="1600" b="1" spc="-5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Journey</a:t>
            </a:r>
            <a:r>
              <a:rPr sz="1600" b="1" spc="-10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Architecture:</a:t>
            </a:r>
            <a:r>
              <a:rPr sz="1600" b="1" spc="-5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Streamlined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workflow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secure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user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onboarding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workspace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creation,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multi-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format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upload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preview,</a:t>
            </a:r>
            <a:r>
              <a:rPr sz="16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AI-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powered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anomaly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checking,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insights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professional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export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email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distribution capabilities.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60" y="139191"/>
            <a:ext cx="82442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80" dirty="0"/>
              <a:t> </a:t>
            </a:r>
            <a:r>
              <a:rPr dirty="0"/>
              <a:t>Services</a:t>
            </a:r>
            <a:r>
              <a:rPr spc="-75" dirty="0"/>
              <a:t> </a:t>
            </a:r>
            <a:r>
              <a:rPr dirty="0"/>
              <a:t>Comparison</a:t>
            </a:r>
            <a:r>
              <a:rPr spc="-80" dirty="0"/>
              <a:t> </a:t>
            </a:r>
            <a:r>
              <a:rPr dirty="0"/>
              <a:t>for</a:t>
            </a:r>
            <a:r>
              <a:rPr spc="-135" dirty="0"/>
              <a:t> </a:t>
            </a:r>
            <a:r>
              <a:rPr spc="-10" dirty="0"/>
              <a:t>Deploying </a:t>
            </a:r>
            <a:r>
              <a:rPr dirty="0"/>
              <a:t>Gemini</a:t>
            </a:r>
            <a:r>
              <a:rPr spc="-155" dirty="0"/>
              <a:t> </a:t>
            </a:r>
            <a:r>
              <a:rPr spc="-10" dirty="0"/>
              <a:t>Model: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3575" y="1505776"/>
          <a:ext cx="9598660" cy="5229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Comoponent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AWS</a:t>
                      </a:r>
                      <a:r>
                        <a:rPr sz="1500" b="1" spc="-8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GCP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Hosting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S3+CloudFront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5040" marR="180340" indent="-770255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Storage+Cloud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CDN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 marR="273685" indent="404495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Blob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Storage+Azure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CDN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ECS</a:t>
                      </a:r>
                      <a:r>
                        <a:rPr sz="1500" b="1" spc="-5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Fargate/Lambda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6120" marR="378460" indent="-323215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Run/Cloud Functions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 marR="170815" indent="274955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Container Apps/Azure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DocumentDB/RDS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Firestore/Cloud</a:t>
                      </a:r>
                      <a:r>
                        <a:rPr sz="1500" b="1" spc="-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4540" marR="128905" indent="-629920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Cosmos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DB/Azure</a:t>
                      </a:r>
                      <a:r>
                        <a:rPr sz="1500" b="1" spc="-6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SQL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sz="1500" b="1" spc="-3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Balancer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Application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Balancer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Balancing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6854" indent="1905" algn="ctr">
                        <a:lnSpc>
                          <a:spcPts val="18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Load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Balancer/Application Gateway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Route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DNS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DNS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Monitoring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CloudWatch+X-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Ray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Operations</a:t>
                      </a:r>
                      <a:r>
                        <a:rPr sz="1500" b="1" spc="-3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Suite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795" marR="260350" indent="2540" algn="ctr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 Monitor+Application Insights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7244" marR="360680" indent="-450215">
                        <a:lnSpc>
                          <a:spcPts val="18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IAM+WAF+Secrets Manager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IAM+Cloud</a:t>
                      </a:r>
                      <a:r>
                        <a:rPr sz="1500" b="1" spc="-1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Armor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2865" indent="5461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500" b="1" spc="-7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Active Directory+Azure</a:t>
                      </a:r>
                      <a:r>
                        <a:rPr sz="1500" b="1" spc="-4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Firewall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CI/CD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CodePipeline+CodeBuild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2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3280" marR="296545" indent="-542290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500" b="1" spc="-2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Build+Cloud Deploy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2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96520" indent="26034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sz="15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SAzure</a:t>
                      </a:r>
                      <a:r>
                        <a:rPr sz="1500" b="1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DevOps/GitHub Actions/Azure</a:t>
                      </a:r>
                      <a:r>
                        <a:rPr sz="1500" b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Pipelines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212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930" y="834516"/>
            <a:ext cx="11246485" cy="538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What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it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4472C4"/>
                </a:solidFill>
                <a:latin typeface="Arial"/>
                <a:cs typeface="Arial"/>
              </a:rPr>
              <a:t>is: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8450" marR="5080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6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AI-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powered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platform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transforms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raw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actionable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business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intelligence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validation,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professional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RAG-enhanced insights.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Key</a:t>
            </a:r>
            <a:r>
              <a:rPr sz="1600" b="1" spc="-1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Features: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Multi-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Format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Integration: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CSV/Excel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upload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batch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cross-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analysis.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AI-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Driven</a:t>
            </a:r>
            <a:r>
              <a:rPr sz="16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Analytics: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anomaly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detection,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transformation,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RAG-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enhanced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insights.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Comprehensive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Compliance: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GAAP/IFRS/SOX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automated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violation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detection.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Professional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Reporting: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PDF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embedded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visualizations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executive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summaries.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Interactive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Intelligence: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Conversational</a:t>
            </a:r>
            <a:r>
              <a:rPr sz="16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assistant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Benefits: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8450" marR="821690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Cost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Optimization:Cost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reduction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accounting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over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33%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analytics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value,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companies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identifying inefficiencies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streamlining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processes</a:t>
            </a:r>
            <a:endParaRPr sz="1600">
              <a:latin typeface="Arial"/>
              <a:cs typeface="Arial"/>
            </a:endParaRPr>
          </a:p>
          <a:p>
            <a:pPr marL="298450" marR="198120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Productivity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Enhancement:Productivity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improvements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10-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20%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reduced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decision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hesitancy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error rates</a:t>
            </a:r>
            <a:endParaRPr sz="1600">
              <a:latin typeface="Arial"/>
              <a:cs typeface="Arial"/>
            </a:endParaRPr>
          </a:p>
          <a:p>
            <a:pPr marL="298450" marR="120650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</a:t>
            </a:r>
            <a:r>
              <a:rPr sz="16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Automation:Automated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reporting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eliminates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compilation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reduces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time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30%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930" y="834516"/>
            <a:ext cx="1113536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Replicability: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8450" marR="5080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modular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enables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seamless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adaptation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across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industries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customizing</a:t>
            </a:r>
            <a:r>
              <a:rPr sz="1600" b="1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models,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compliance frameworks,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reporting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templates.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Core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RAG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infrastructure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supports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sector-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knowledge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bases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while maintaining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consistent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analytical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Data</a:t>
            </a:r>
            <a:r>
              <a:rPr sz="1600" b="1" spc="-2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Governance: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8450" marR="179705" indent="-25527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Implements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bank-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level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security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protocols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end-to-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encryption,comprehensive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audit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logging,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GDPR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compliance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integrity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regulatory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adherence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throughout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analytical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lifecycle.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Enhancements: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255" y="74200"/>
            <a:ext cx="1428301" cy="6251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4175" y="971041"/>
            <a:ext cx="10984230" cy="490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Enterprise</a:t>
            </a:r>
            <a:r>
              <a:rPr sz="1600" b="1" spc="-3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Integration</a:t>
            </a:r>
            <a:r>
              <a:rPr sz="1600" b="1" spc="-3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Connectiivty: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ERP</a:t>
            </a:r>
            <a:r>
              <a:rPr sz="1600" b="1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Integration: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Direct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connectivity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SAP,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Oracle,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QuickBooks,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major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accounting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platforms.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Streaming: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Live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feeds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instant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alerts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continuous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monitoring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API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Ecosystem: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Comprehensive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RESTful</a:t>
            </a:r>
            <a:r>
              <a:rPr sz="16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APIs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third-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party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integrations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workflow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automation.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Blockchain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Integration: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Immutable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audit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trails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smart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contract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enhanced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transparency.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Enhanced</a:t>
            </a:r>
            <a:r>
              <a:rPr sz="1600" b="1" spc="-3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User</a:t>
            </a:r>
            <a:r>
              <a:rPr sz="1600" b="1" spc="-30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Experience: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Mobile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Native</a:t>
            </a:r>
            <a:r>
              <a:rPr sz="1600" b="1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Applications: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Dedicated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iOS/Android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apps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offline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synchronization</a:t>
            </a:r>
            <a:r>
              <a:rPr sz="16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Voice-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Activated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Interface: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Hands-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free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financial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queries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conversational</a:t>
            </a:r>
            <a:r>
              <a:rPr sz="16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95959"/>
                </a:solidFill>
                <a:latin typeface="Arial"/>
                <a:cs typeface="Arial"/>
              </a:rPr>
              <a:t>AI.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Collaborative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Workflows: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co-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editing,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approval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processes,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team-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features.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Customizable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Dashboards: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Drag-and-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drop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interface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personalized</a:t>
            </a:r>
            <a:r>
              <a:rPr sz="16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KPI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visualization.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•"/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4472C4"/>
                </a:solidFill>
                <a:latin typeface="Arial"/>
                <a:cs typeface="Arial"/>
              </a:rPr>
              <a:t>Platfrom</a:t>
            </a:r>
            <a:r>
              <a:rPr sz="1600" b="1" spc="-10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472C4"/>
                </a:solidFill>
                <a:latin typeface="Arial"/>
                <a:cs typeface="Arial"/>
              </a:rPr>
              <a:t>Scalability: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Cloud-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Native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Infrastructure: Kubernetes-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595959"/>
                </a:solidFill>
                <a:latin typeface="Arial"/>
                <a:cs typeface="Arial"/>
              </a:rPr>
              <a:t>auto-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scaling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high</a:t>
            </a:r>
            <a:r>
              <a:rPr sz="16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availability deployment.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Edge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Computing: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capabilities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improved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latency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sovereignty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requirements.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Microservices</a:t>
            </a:r>
            <a:r>
              <a:rPr sz="1600" b="1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Architecture: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Enhanced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service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decomposition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improved</a:t>
            </a:r>
            <a:r>
              <a:rPr sz="16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maintainability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performance.</a:t>
            </a:r>
            <a:endParaRPr sz="1600">
              <a:latin typeface="Arial"/>
              <a:cs typeface="Arial"/>
            </a:endParaRPr>
          </a:p>
          <a:p>
            <a:pPr marL="297815" indent="-255270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Advanced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Caching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Systems: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Redis-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faster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sz="16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595959"/>
                </a:solidFill>
                <a:latin typeface="Arial"/>
                <a:cs typeface="Arial"/>
              </a:rPr>
              <a:t>processing.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6166" y="3014516"/>
            <a:ext cx="3543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latin typeface="Arial Black"/>
                <a:cs typeface="Arial Black"/>
              </a:rPr>
              <a:t>Thank</a:t>
            </a:r>
            <a:r>
              <a:rPr sz="4800" b="0" spc="95" dirty="0">
                <a:latin typeface="Arial Black"/>
                <a:cs typeface="Arial Black"/>
              </a:rPr>
              <a:t> </a:t>
            </a:r>
            <a:r>
              <a:rPr sz="4800" b="0" spc="-114" dirty="0">
                <a:latin typeface="Arial Black"/>
                <a:cs typeface="Arial Black"/>
              </a:rPr>
              <a:t>You</a:t>
            </a:r>
            <a:endParaRPr sz="4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1391</Words>
  <Application>Microsoft Office PowerPoint</Application>
  <PresentationFormat>Widescreen</PresentationFormat>
  <Paragraphs>239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Times New Roman</vt:lpstr>
      <vt:lpstr>Office Theme</vt:lpstr>
      <vt:lpstr>Finaxial AI: Automated Financial Reporting</vt:lpstr>
      <vt:lpstr>Problem Statement:</vt:lpstr>
      <vt:lpstr>Target Segment / Market Size:</vt:lpstr>
      <vt:lpstr>Existing Solutions / Platforms vs Finaxial AI:</vt:lpstr>
      <vt:lpstr>Existing Solutions / Platforms vs Finaxial AI:</vt:lpstr>
      <vt:lpstr>Why our solution is accurate?</vt:lpstr>
      <vt:lpstr>Architecture:</vt:lpstr>
      <vt:lpstr>User flow Chart:</vt:lpstr>
      <vt:lpstr>Cloud Services Comparison for Deploying Gemini Model:</vt:lpstr>
      <vt:lpstr>Conclusion:</vt:lpstr>
      <vt:lpstr>Conclusion:</vt:lpstr>
      <vt:lpstr>Future Enhancements: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3 Sample PPT.pptx</dc:title>
  <dc:creator>MOHAN</dc:creator>
  <cp:lastModifiedBy>Mohan Chandaka</cp:lastModifiedBy>
  <cp:revision>3</cp:revision>
  <dcterms:created xsi:type="dcterms:W3CDTF">2026-03-30T13:39:51Z</dcterms:created>
  <dcterms:modified xsi:type="dcterms:W3CDTF">2026-03-31T06:17:39Z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2026-03-30T00:00:00Z</vt:filetime>
  </property>
</Properties>
</file>